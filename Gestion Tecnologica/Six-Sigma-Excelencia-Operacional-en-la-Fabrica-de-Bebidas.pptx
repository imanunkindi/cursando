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Poppins Light" panose="00000400000000000000" pitchFamily="2" charset="0"/>
      <p:regular r:id="rId12"/>
    </p:embeddedFont>
    <p:embeddedFont>
      <p:font typeface="Roboto Bold" pitchFamily="2" charset="0"/>
      <p:bold r:id="rId13"/>
    </p:embeddedFont>
    <p:embeddedFont>
      <p:font typeface="Roboto Light" panose="02000000000000000000" pitchFamily="2" charset="0"/>
      <p:regular r:id="rId14"/>
    </p:embeddedFont>
    <p:embeddedFont>
      <p:font typeface="Twemoji Mozilla" panose="02000509000000000000" pitchFamily="49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26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Six Sigma: Excelencia Operacional en la Fábrica de Bebidas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Cómo reducir defectos, eliminar cuellos de botella y transformar la eficiencia mediante datos y metodología probada.</a:t>
            </a:r>
            <a:endParaRPr lang="en-US" sz="14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7385C6-502C-0627-8B06-B4C3AB58DA14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DF1F755-5975-5D05-B09F-CF884BB17295}"/>
              </a:ext>
            </a:extLst>
          </p:cNvPr>
          <p:cNvSpPr/>
          <p:nvPr/>
        </p:nvSpPr>
        <p:spPr>
          <a:xfrm>
            <a:off x="5233360" y="5026522"/>
            <a:ext cx="6296860" cy="853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Andrés Felipe Bernal Urrea – 7003748</a:t>
            </a:r>
          </a:p>
          <a:p>
            <a:pPr>
              <a:lnSpc>
                <a:spcPct val="133000"/>
              </a:lnSpc>
            </a:pPr>
            <a:r>
              <a:rPr lang="es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Juan David Sedano Rodríguez – 7004005</a:t>
            </a:r>
          </a:p>
          <a:p>
            <a:pPr>
              <a:lnSpc>
                <a:spcPct val="133000"/>
              </a:lnSpc>
            </a:pPr>
            <a:r>
              <a:rPr lang="es-US" sz="145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Jose</a:t>
            </a:r>
            <a:r>
              <a:rPr lang="es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Luis Herrera Fuentes – 7003814</a:t>
            </a:r>
          </a:p>
          <a:p>
            <a:pPr>
              <a:lnSpc>
                <a:spcPct val="133000"/>
              </a:lnSpc>
            </a:pPr>
            <a:endParaRPr lang="en-US" sz="145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4434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es Six Sigma?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233360" y="1221482"/>
            <a:ext cx="629686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Six Sigma es una metodología de mejora continua que usa datos y análisis estadístico para identificar causas de error, reducir variabilidad y elevar la calidad de los procesos. En la práctica, ayuda a fabricar mejor, con menos defectos, menos retrabajo y mayor consistencia.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70013"/>
            <a:ext cx="3294675" cy="20455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2096" y="2342555"/>
            <a:ext cx="28734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Metodología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2096" y="2707184"/>
            <a:ext cx="2873402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 objetivo es llevar los procesos a un nivel de desempeño casi perfecto: </a:t>
            </a: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3.4 defectos por millón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equivalente a </a:t>
            </a: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99.99966%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calidad. Esto se logra midiendo, analizando y mejorando cada etapa del proceso.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340324"/>
            <a:ext cx="3294675" cy="18229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2096" y="4512866"/>
            <a:ext cx="28734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Fundamento estadístico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482096" y="4877495"/>
            <a:ext cx="2873402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Six Sigma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significa operar dentro de </a:t>
            </a: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desviaciones estándar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la media. En otras palabras, busca que el proceso sea tan estable y predecible que los errores se vuelvan excepcionalmente raros.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8909026" y="3459460"/>
            <a:ext cx="2627445" cy="1414264"/>
          </a:xfrm>
          <a:prstGeom prst="roundRect">
            <a:avLst>
              <a:gd name="adj" fmla="val 4561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2513" y="3646884"/>
            <a:ext cx="191884" cy="1534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07885" y="3609975"/>
            <a:ext cx="1975098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 manufactura, Six Sigma no solo busca calidad: busca consistencia, control y decisiones basadas en datos.</a:t>
            </a:r>
            <a:endParaRPr lang="en-US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A151DB4-7FF5-74A2-D22D-AFB75421EACA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Historia y Evolución de Six Sigma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05731"/>
            <a:ext cx="108687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Six Sigma, inicialmente desarrollado por Motorola, se consolidó como un estándar global de mejora de procesos, impulsado por influencias japonesas y popularizado por General Electric.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424100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2763371" y="370939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2706471" y="4174579"/>
            <a:ext cx="132851" cy="13285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7" name="Shape 5"/>
          <p:cNvSpPr/>
          <p:nvPr/>
        </p:nvSpPr>
        <p:spPr>
          <a:xfrm>
            <a:off x="661475" y="2141835"/>
            <a:ext cx="4222843" cy="1292920"/>
          </a:xfrm>
          <a:prstGeom prst="roundRect">
            <a:avLst>
              <a:gd name="adj" fmla="val 575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845025" y="2325390"/>
            <a:ext cx="385574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1986: Origen en Motorola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5025" y="2701925"/>
            <a:ext cx="385574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Desarrollado para reducir drásticamente los defectos en la fabricación de electrónica.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8573" y="4241006"/>
            <a:ext cx="19050" cy="531614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1" name="Shape 9"/>
          <p:cNvSpPr/>
          <p:nvPr/>
        </p:nvSpPr>
        <p:spPr>
          <a:xfrm>
            <a:off x="4921673" y="4174579"/>
            <a:ext cx="132851" cy="13285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2" name="Shape 10"/>
          <p:cNvSpPr/>
          <p:nvPr/>
        </p:nvSpPr>
        <p:spPr>
          <a:xfrm>
            <a:off x="2876676" y="4772620"/>
            <a:ext cx="4222942" cy="1567557"/>
          </a:xfrm>
          <a:prstGeom prst="roundRect">
            <a:avLst>
              <a:gd name="adj" fmla="val 47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3060227" y="4956175"/>
            <a:ext cx="38558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Influencias de Calidad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60227" y="5332710"/>
            <a:ext cx="385584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Basado en los principios de </a:t>
            </a: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TQM</a:t>
            </a: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(Total Quality Management) y la filosofía japonesa de mejora continua.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93874" y="3709392"/>
            <a:ext cx="19050" cy="531614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6" name="Shape 14"/>
          <p:cNvSpPr/>
          <p:nvPr/>
        </p:nvSpPr>
        <p:spPr>
          <a:xfrm>
            <a:off x="7136973" y="4174579"/>
            <a:ext cx="132851" cy="13285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7" name="Shape 15"/>
          <p:cNvSpPr/>
          <p:nvPr/>
        </p:nvSpPr>
        <p:spPr>
          <a:xfrm>
            <a:off x="5091977" y="2141835"/>
            <a:ext cx="4222942" cy="1567557"/>
          </a:xfrm>
          <a:prstGeom prst="roundRect">
            <a:avLst>
              <a:gd name="adj" fmla="val 47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5275527" y="2325390"/>
            <a:ext cx="38558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1990s: Impulso de 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5527" y="2701925"/>
            <a:ext cx="385584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Jack Welch, CEO de General Electric, lo adoptó, catapultando su reconocimiento y aplicación global.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409175" y="4241006"/>
            <a:ext cx="19050" cy="531614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1" name="Shape 19"/>
          <p:cNvSpPr/>
          <p:nvPr/>
        </p:nvSpPr>
        <p:spPr>
          <a:xfrm>
            <a:off x="9352274" y="4174579"/>
            <a:ext cx="132851" cy="132854"/>
          </a:xfrm>
          <a:prstGeom prst="ellipse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2" name="Shape 20"/>
          <p:cNvSpPr/>
          <p:nvPr/>
        </p:nvSpPr>
        <p:spPr>
          <a:xfrm>
            <a:off x="7307278" y="4772620"/>
            <a:ext cx="4222942" cy="1567557"/>
          </a:xfrm>
          <a:prstGeom prst="roundRect">
            <a:avLst>
              <a:gd name="adj" fmla="val 474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3" name="Text 21"/>
          <p:cNvSpPr/>
          <p:nvPr/>
        </p:nvSpPr>
        <p:spPr>
          <a:xfrm>
            <a:off x="7490828" y="4956175"/>
            <a:ext cx="385584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Ciclo DMAIC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90828" y="5332710"/>
            <a:ext cx="3855842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metodología Define, Measure, Analyze, Improve, Control se estableció como su pilar central.</a:t>
            </a:r>
            <a:endParaRPr lang="en-US" sz="135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EEDFF11-EEE2-5BB6-430F-4807562B955A}"/>
              </a:ext>
            </a:extLst>
          </p:cNvPr>
          <p:cNvSpPr/>
          <p:nvPr/>
        </p:nvSpPr>
        <p:spPr>
          <a:xfrm>
            <a:off x="10895220" y="6395541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945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Diagnóstico: Problemas Críticos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1839913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2"/>
          <p:cNvSpPr/>
          <p:nvPr/>
        </p:nvSpPr>
        <p:spPr>
          <a:xfrm>
            <a:off x="5405005" y="2011561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🚫</a:t>
            </a: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Desperdicio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05005" y="2356842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12% de botellas defectuosas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3,600 botellas perdidas cada día de producción.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2921198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5"/>
          <p:cNvSpPr/>
          <p:nvPr/>
        </p:nvSpPr>
        <p:spPr>
          <a:xfrm>
            <a:off x="5405005" y="309284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⏰</a:t>
            </a: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Retrasos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05005" y="3438128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35% de pedidos atrasados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8% de reclamos de clientes afectando la reputación.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4002484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8"/>
          <p:cNvSpPr/>
          <p:nvPr/>
        </p:nvSpPr>
        <p:spPr>
          <a:xfrm>
            <a:off x="5405005" y="417413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Ineficiencia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05005" y="4519414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Máquina de llenado al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95% de capacidad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mientras otras permanecen ociosas.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5083770"/>
            <a:ext cx="6296860" cy="1184672"/>
          </a:xfrm>
          <a:prstGeom prst="roundRect">
            <a:avLst>
              <a:gd name="adj" fmla="val 586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4" name="Text 11"/>
          <p:cNvSpPr/>
          <p:nvPr/>
        </p:nvSpPr>
        <p:spPr>
          <a:xfrm>
            <a:off x="5405005" y="5255419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Variabilidad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05005" y="5600700"/>
            <a:ext cx="5953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turno trabaja diferente — </a:t>
            </a: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 procedimientos estándar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ni criterios unificados.</a:t>
            </a:r>
            <a:endParaRPr lang="en-US" sz="13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C763B46-BEFB-D84F-3F15-074934328468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Fase 1: Definir (D)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55430" y="131360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¿Qué problema vamos a resolver?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4045" y="2035147"/>
            <a:ext cx="5531955" cy="5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fase Definir establece el alcance exacto del proyecto y los objetivos </a:t>
            </a:r>
            <a:r>
              <a:rPr lang="en-US" sz="12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medibles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que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guiarán todo el ciclo DMAIC</a:t>
            </a: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4045" y="2999927"/>
            <a:ext cx="5315512" cy="82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Objetivo principal: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Reducir la tasa de defectos de </a:t>
            </a: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12% a 2%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 un plazo de 6 meses</a:t>
            </a:r>
            <a:endParaRPr lang="en-US" sz="12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Alcance: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Procesos de llenado, etiquetado y sellado de tapas</a:t>
            </a:r>
            <a:endParaRPr lang="en-US" sz="12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2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Métrica clave:</a:t>
            </a: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Tasa de defectos por turno y por máquina, medida diariamente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5430" y="4789462"/>
            <a:ext cx="5315512" cy="418257"/>
          </a:xfrm>
          <a:prstGeom prst="roundRect">
            <a:avLst>
              <a:gd name="adj" fmla="val 15929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60" y="4867547"/>
            <a:ext cx="121738" cy="974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6434" y="4859759"/>
            <a:ext cx="5511067" cy="5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 objetivo bien definido es la diferencia entre un proyecto exitoso y uno que no </a:t>
            </a:r>
            <a:r>
              <a:rPr lang="en-US" sz="1000" dirty="0" err="1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llega</a:t>
            </a:r>
            <a:r>
              <a:rPr lang="en-US" sz="10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ningún lado.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05CDC23-60B5-109F-4273-3D1D3F9944A7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896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Fases 2–3: Medir y Analizar (M–A)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301353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211294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Actuar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211294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Identificar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211294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Recolectar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37597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Hallazgo clave: Causas Raíz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5759648"/>
            <a:ext cx="523981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Máquina de llenado </a:t>
            </a: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desajustada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sin calibración regular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Entrenamiento inconsistente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entre turnos genera variabilidad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96760" y="537597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Hallazgo clave: Variabilidad de Proceso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96760" y="5759648"/>
            <a:ext cx="523981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Cambios de sabor toman </a:t>
            </a: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horas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sin procedimiento estándar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Tiempo improductivo acumulado genera </a:t>
            </a: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cuellos de botella</a:t>
            </a:r>
            <a:endParaRPr lang="en-US" sz="12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EE3EE5-2245-6EDF-C1F9-5FA1ED180F88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0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Fase 4: Mejorar (I)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9563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26234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Estandarizar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34916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Crear procedimientos claros para cada turno con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calibración diaria</a:t>
            </a: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máquinas y listas de verificación.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79563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262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Optimizar Cambios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39349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Reducir el tiempo de cambio de sabor de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horas a 30 minutos</a:t>
            </a: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mediante secuencias estandarizadas.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79563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262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Balancear Línea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39349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Redistribuir la carga entre máquinas para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eliminar cuellos de botella</a:t>
            </a: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aprovechar capacidad ociosa.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79563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26234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Entrenar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3934916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Capacitación en procedimientos estándar para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todos los turnos</a:t>
            </a: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asegurando consistencia total.</a:t>
            </a:r>
            <a:endParaRPr lang="en-US" sz="14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D1EEB21-0803-AB57-6C7B-1F66AF2817E4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Fase 5: Controlar — Resultados Esperados (C)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15082"/>
            <a:ext cx="10868745" cy="44390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341" y="5180097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Impacto cuantificado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2341" y="5731073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+8,400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02341" y="6125566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Botellas adicionales por día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2341" y="6301481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Recuperadas al eliminar defectos y optimizar la línea.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007147" y="559915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40K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007147" y="5993649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Botellas/día (meta)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07147" y="6169564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Partiendo de 30,000 — un incremento del 33%.</a:t>
            </a:r>
            <a:endParaRPr lang="en-US" sz="7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32CA947-EEA0-6BC6-4364-6F8DD8632F7E}"/>
              </a:ext>
            </a:extLst>
          </p:cNvPr>
          <p:cNvSpPr/>
          <p:nvPr/>
        </p:nvSpPr>
        <p:spPr>
          <a:xfrm>
            <a:off x="10856686" y="6554392"/>
            <a:ext cx="1308534" cy="240108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766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Plan de Implementación: 6 Meses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788120"/>
            <a:ext cx="826868" cy="11719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4886" y="1953419"/>
            <a:ext cx="5325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Meses 1–2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04886" y="2298700"/>
            <a:ext cx="5325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Diagnóstico activo: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Recolectar datos, identificar causas raíz y entrenar al equipo DMAIC.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960092"/>
            <a:ext cx="826868" cy="11719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4886" y="3125391"/>
            <a:ext cx="5325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Meses 3–4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04886" y="3470672"/>
            <a:ext cx="5325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Transformación: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Implementar cambios, estandarizar procesos y optimizar tiempos de cambio.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132064"/>
            <a:ext cx="826868" cy="11719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4886" y="4297363"/>
            <a:ext cx="53253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Meses 5–6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204886" y="4642644"/>
            <a:ext cx="532533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Control sostenido: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Monitorear resultados, ajustar y establecer controles permanentes.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233360" y="5466755"/>
            <a:ext cx="6296860" cy="853480"/>
          </a:xfrm>
          <a:prstGeom prst="roundRect">
            <a:avLst>
              <a:gd name="adj" fmla="val 8139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655" y="5679480"/>
            <a:ext cx="206667" cy="1652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70617" y="5652691"/>
            <a:ext cx="559430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Resultado final: +8,400 botellas/día → mayor rentabilidad, menos reclamos y clientes satisfechos.</a:t>
            </a:r>
            <a:endParaRPr lang="en-US" sz="13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0E028AA-5188-CFEA-3064-727E5F30183D}"/>
              </a:ext>
            </a:extLst>
          </p:cNvPr>
          <p:cNvSpPr/>
          <p:nvPr/>
        </p:nvSpPr>
        <p:spPr>
          <a:xfrm>
            <a:off x="10895220" y="6337300"/>
            <a:ext cx="1270000" cy="457200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732</Words>
  <Application>Microsoft Office PowerPoint</Application>
  <PresentationFormat>Panorámica</PresentationFormat>
  <Paragraphs>84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Poppins Light</vt:lpstr>
      <vt:lpstr>Roboto Light</vt:lpstr>
      <vt:lpstr>Twemoji Mozilla</vt:lpstr>
      <vt:lpstr>Roboto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Andres Felipe Bernal Urrea</cp:lastModifiedBy>
  <cp:revision>3</cp:revision>
  <dcterms:created xsi:type="dcterms:W3CDTF">2026-09-04T23:30:38Z</dcterms:created>
  <dcterms:modified xsi:type="dcterms:W3CDTF">2026-09-05T03:48:48Z</dcterms:modified>
</cp:coreProperties>
</file>