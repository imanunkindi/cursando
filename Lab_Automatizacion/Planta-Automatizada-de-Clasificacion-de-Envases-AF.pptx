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Fraunces Extra Bold" panose="020B0604020202020204" charset="0"/>
      <p:regular r:id="rId14"/>
    </p:embeddedFont>
    <p:embeddedFont>
      <p:font typeface="Nobile" panose="020B0604020202020204" charset="0"/>
      <p:regular r:id="rId15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574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Planta Automatizada de Clasificación de Envases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Proyecto de automatización y control industrial para separación de plástico y vidrio mediante tecnología PLC Siemens S7-1500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b="1" dirty="0">
              <a:solidFill>
                <a:srgbClr val="405449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b="1" dirty="0">
              <a:solidFill>
                <a:srgbClr val="405449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b="1" dirty="0">
              <a:solidFill>
                <a:srgbClr val="405449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b="1" dirty="0">
              <a:solidFill>
                <a:srgbClr val="405449"/>
              </a:solidFill>
              <a:latin typeface="Nobile" pitchFamily="34" charset="0"/>
              <a:ea typeface="Nobile" pitchFamily="34" charset="-122"/>
              <a:cs typeface="Nobile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Andres Felipe Bernal Urrea  7003748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Filocaris Triana Pinzon          7003936 </a:t>
            </a:r>
            <a:endParaRPr 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48B19E-C3DC-FA1D-D248-F29AAF2D7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" cy="147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63DB7176-DD23-072B-F103-4EB2A77CF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0" y="0"/>
            <a:ext cx="1219200" cy="147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758428" y="949881"/>
            <a:ext cx="2017871" cy="337304"/>
          </a:xfrm>
          <a:prstGeom prst="roundRect">
            <a:avLst>
              <a:gd name="adj" fmla="val 40567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72371" y="1006792"/>
            <a:ext cx="1789986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CONTEXTO INDUSTRIAL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58428" y="1350764"/>
            <a:ext cx="11184374" cy="593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Gestión Automatizada de Residuos Reciclables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28" y="2362557"/>
            <a:ext cx="8361402" cy="47380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91080" y="2903696"/>
            <a:ext cx="2857381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Relevancia del proyecto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591080" y="3359706"/>
            <a:ext cx="4288274" cy="1955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gestión eficiente de residuos representa una necesidad crítica tanto ambiental como industrial. Las plantas modernas de reciclaje integran bandas transportadoras automatizadas, sensores de última generación y controladores lógicos programables (PLC) para maximizar la eficiencia operativa.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591080" y="5458182"/>
            <a:ext cx="4288274" cy="1117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2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Este proyecto replica a escala de laboratorio una planta real de clasificación, utilizando el PLC Siemens S7-1500 como cerebro del sistema automatizado.</a:t>
            </a:r>
            <a:endParaRPr lang="en-US" sz="145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F9674A2-6D2D-AA6A-0862-3BF40D728325}"/>
              </a:ext>
            </a:extLst>
          </p:cNvPr>
          <p:cNvSpPr/>
          <p:nvPr/>
        </p:nvSpPr>
        <p:spPr>
          <a:xfrm>
            <a:off x="12771120" y="7711440"/>
            <a:ext cx="18592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08152"/>
            <a:ext cx="1242774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29878" y="1476137"/>
            <a:ext cx="9705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OBJETIVOS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25122"/>
            <a:ext cx="83093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Alcance y Metas del Proyecto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974062"/>
            <a:ext cx="3090505" cy="3847267"/>
          </a:xfrm>
          <a:prstGeom prst="roundRect">
            <a:avLst>
              <a:gd name="adj" fmla="val 6606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20604" y="3200876"/>
            <a:ext cx="2636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Objetivo General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3691295"/>
            <a:ext cx="2636877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Diseñar una planta automatizada de clasificación de envases reciclables cumpliendo todos los requerimientos técnicos especificados en la guía de proyecto.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4111109" y="2974062"/>
            <a:ext cx="3090624" cy="3847267"/>
          </a:xfrm>
          <a:prstGeom prst="roundRect">
            <a:avLst>
              <a:gd name="adj" fmla="val 66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337923" y="3200876"/>
            <a:ext cx="26369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Clasificación Inteligente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37923" y="4045625"/>
            <a:ext cx="263699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Implementar sistema de clasificación diferenciada para envases de plástico y vidrio mediante sensores y actuadores industriales.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2974062"/>
            <a:ext cx="3090624" cy="3847267"/>
          </a:xfrm>
          <a:prstGeom prst="roundRect">
            <a:avLst>
              <a:gd name="adj" fmla="val 66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655362" y="3200876"/>
            <a:ext cx="2636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Control Avanzado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55362" y="3691295"/>
            <a:ext cx="263699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Integrar control analógico de velocidad, sensores, actuadores, interfaz HMI y sistema de supervisión en tiempo real.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745986" y="2974062"/>
            <a:ext cx="3090624" cy="3847267"/>
          </a:xfrm>
          <a:prstGeom prst="roundRect">
            <a:avLst>
              <a:gd name="adj" fmla="val 66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0972800" y="3200876"/>
            <a:ext cx="26369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Técnicas Especializadas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0" y="4045625"/>
            <a:ext cx="263699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Aplicar estrategias de control avanzado incluyendo PID para regulación y control por realimentación de estados.</a:t>
            </a:r>
            <a:endParaRPr lang="en-US" sz="175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2B473700-347A-27DB-2A46-9BA891EF5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0" y="0"/>
            <a:ext cx="1219200" cy="147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1CB9978F-0099-A55E-859E-635B69A24722}"/>
              </a:ext>
            </a:extLst>
          </p:cNvPr>
          <p:cNvSpPr/>
          <p:nvPr/>
        </p:nvSpPr>
        <p:spPr>
          <a:xfrm>
            <a:off x="12771120" y="7711440"/>
            <a:ext cx="18592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1468" y="501848"/>
            <a:ext cx="857369" cy="303609"/>
          </a:xfrm>
          <a:prstGeom prst="roundRect">
            <a:avLst>
              <a:gd name="adj" fmla="val 41543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376482" y="554355"/>
            <a:ext cx="647343" cy="19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PROCESO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71468" y="859512"/>
            <a:ext cx="6992660" cy="547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Descripción del Flujo Operativo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8" y="1609725"/>
            <a:ext cx="12087344" cy="5221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55850" y="5242646"/>
            <a:ext cx="1794737" cy="326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Detección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4155850" y="5662501"/>
            <a:ext cx="1794737" cy="695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Sensores fotoeléctricos identifican piezas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64272" y="5242646"/>
            <a:ext cx="1794738" cy="326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Desvío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8764272" y="5662501"/>
            <a:ext cx="1794738" cy="695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Sistema neum./servomotor realiza el giro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57358" y="2080836"/>
            <a:ext cx="1794737" cy="32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Ingreso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857358" y="2500691"/>
            <a:ext cx="1794737" cy="695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Envases por banda transportadora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94302" y="2080836"/>
            <a:ext cx="1794737" cy="32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Conteo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10994302" y="2500691"/>
            <a:ext cx="1794737" cy="695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Registro y supervisión del flujo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88663" y="2080836"/>
            <a:ext cx="1794737" cy="326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Decisión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488663" y="2500691"/>
            <a:ext cx="1794737" cy="463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PLC determina la clasificación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71468" y="6982897"/>
            <a:ext cx="12087344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 proceso automatizado inicia con el ingreso de envases por la banda transportadora. Los sensores fotoeléctricos detectan la presencia y características del material. El PLC toma la decisión de clasificación en milisegundos, activando el sistema neumático o servomotor para desviar cada envase al contenedor correspondiente. Todo el proceso es monitoreado y registrado en tiempo real.</a:t>
            </a:r>
            <a:endParaRPr lang="en-US" sz="135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AE0544D-5F77-C1B6-D9FD-281DD817D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" cy="147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0B0CEF5E-30DE-688E-DBBC-C827B4038AD8}"/>
              </a:ext>
            </a:extLst>
          </p:cNvPr>
          <p:cNvSpPr/>
          <p:nvPr/>
        </p:nvSpPr>
        <p:spPr>
          <a:xfrm>
            <a:off x="12771120" y="7711440"/>
            <a:ext cx="18592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7599" y="1252895"/>
            <a:ext cx="8717756" cy="504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3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50" b="1" i="0" u="none" strike="noStrike" kern="1200" cap="none" spc="0" normalizeH="0" baseline="0" noProof="0" dirty="0">
                <a:ln>
                  <a:noFill/>
                </a:ln>
                <a:solidFill>
                  <a:srgbClr val="3B4540"/>
                </a:solidFill>
                <a:effectLst/>
                <a:uLnTx/>
                <a:uFillTx/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Secuencia de Operación y Supervisión HMI</a:t>
            </a:r>
            <a:endParaRPr kumimoji="0" lang="en-US" sz="3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47599" y="2116693"/>
            <a:ext cx="3423642" cy="252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3B4540"/>
                </a:solidFill>
                <a:effectLst/>
                <a:uLnTx/>
                <a:uFillTx/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Ciclo Automático de Clasificación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99" y="2497812"/>
            <a:ext cx="806887" cy="13520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69262" y="2659142"/>
            <a:ext cx="2017157" cy="252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405449"/>
                </a:solidFill>
                <a:effectLst/>
                <a:uLnTx/>
                <a:uFillTx/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Arranque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69262" y="3025973"/>
            <a:ext cx="2719745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05449"/>
                </a:solidFill>
                <a:effectLst/>
                <a:uLnTx/>
                <a:uFillTx/>
                <a:latin typeface="Nobile" pitchFamily="34" charset="0"/>
                <a:ea typeface="Nobile" pitchFamily="34" charset="-122"/>
                <a:cs typeface="Nobile" pitchFamily="34" charset="-120"/>
              </a:rPr>
              <a:t>Operador activa sistema desde HMI. PLC inicia rampa de velocidad y habilita sensores.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599" y="3849886"/>
            <a:ext cx="806887" cy="13520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69262" y="4011216"/>
            <a:ext cx="2017157" cy="252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405449"/>
                </a:solidFill>
                <a:effectLst/>
                <a:uLnTx/>
                <a:uFillTx/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Detección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2669262" y="4378047"/>
            <a:ext cx="2719745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05449"/>
                </a:solidFill>
                <a:effectLst/>
                <a:uLnTx/>
                <a:uFillTx/>
                <a:latin typeface="Nobile" pitchFamily="34" charset="0"/>
                <a:ea typeface="Nobile" pitchFamily="34" charset="-122"/>
                <a:cs typeface="Nobile" pitchFamily="34" charset="-120"/>
              </a:rPr>
              <a:t>Sensor identifica material y envía señal al PLC. Lógica discrimina plástico/vidrio.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599" y="5201960"/>
            <a:ext cx="806887" cy="15729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69262" y="5363289"/>
            <a:ext cx="2017157" cy="252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405449"/>
                </a:solidFill>
                <a:effectLst/>
                <a:uLnTx/>
                <a:uFillTx/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Clasificación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7"/>
          <p:cNvSpPr/>
          <p:nvPr/>
        </p:nvSpPr>
        <p:spPr>
          <a:xfrm>
            <a:off x="2669262" y="5730121"/>
            <a:ext cx="2719745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05449"/>
                </a:solidFill>
                <a:effectLst/>
                <a:uLnTx/>
                <a:uFillTx/>
                <a:latin typeface="Nobile" pitchFamily="34" charset="0"/>
                <a:ea typeface="Nobile" pitchFamily="34" charset="-122"/>
                <a:cs typeface="Nobile" pitchFamily="34" charset="-120"/>
              </a:rPr>
              <a:t>Electroválvula actúa según decisión del PLC, desviando envase. Contadores se incrementan.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0248" y="2058472"/>
            <a:ext cx="7099935" cy="40232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90248" y="6210776"/>
            <a:ext cx="7099935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05449"/>
                </a:solidFill>
                <a:effectLst/>
                <a:uLnTx/>
                <a:uFillTx/>
                <a:latin typeface="Nobile" pitchFamily="34" charset="0"/>
                <a:ea typeface="Nobile" pitchFamily="34" charset="-122"/>
                <a:cs typeface="Nobile" pitchFamily="34" charset="-120"/>
              </a:rPr>
              <a:t>La interfaz HMI permite supervisión en tiempo real de variables de proceso, conteo acumulado por material, ajuste de parámetros PID, visualización de alarmas y control manual/automático del sistema completo.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628F915-291E-42FA-E786-77CFDB9F2E33}"/>
              </a:ext>
            </a:extLst>
          </p:cNvPr>
          <p:cNvSpPr/>
          <p:nvPr/>
        </p:nvSpPr>
        <p:spPr>
          <a:xfrm>
            <a:off x="12771120" y="7711440"/>
            <a:ext cx="18592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1666E4C8-16F2-ED58-8DA9-84C8D5DFE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0" y="0"/>
            <a:ext cx="1219200" cy="147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793790" y="1453634"/>
            <a:ext cx="2082641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29878" y="1521619"/>
            <a:ext cx="18104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SISTEMA DINÁMICO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70603"/>
            <a:ext cx="81548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Modelado de Segundo Orden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30436" y="3019544"/>
            <a:ext cx="6571417" cy="3756422"/>
          </a:xfrm>
          <a:prstGeom prst="roundRect">
            <a:avLst>
              <a:gd name="adj" fmla="val 8695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57250" y="3246358"/>
            <a:ext cx="34118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Requisito Técnico Clave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3827502"/>
            <a:ext cx="611778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 sistema motor-banda presenta comportamiento dinámico característico debido a la inercia de los componentes mecánicos y la fricción inherente al sistema.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57250" y="5483185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modela matemáticamente como un sistema de segundo orden, cumpliendo así el requisito dinámico establecido en la guía de proyecto.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246358"/>
            <a:ext cx="43869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Variable Analógica Controlada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82750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Velocidad de la banda transportadora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394478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Medición mediante tacómetro o encoder incremental</a:t>
            </a:r>
            <a:endParaRPr lang="en-US" sz="1750" dirty="0"/>
          </a:p>
          <a:p>
            <a:pPr marL="342900" indent="-342900" algn="just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Señal analógica 0–10 V conectada a entrada del PLC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Muestreo en tiempo real para control de lazo cerrado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Precisión ±0.5% del rango de operación</a:t>
            </a:r>
            <a:endParaRPr lang="en-US" sz="175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D09ED7A-593D-F6D4-CB0F-BC74F82F93AE}"/>
              </a:ext>
            </a:extLst>
          </p:cNvPr>
          <p:cNvSpPr/>
          <p:nvPr/>
        </p:nvSpPr>
        <p:spPr>
          <a:xfrm>
            <a:off x="12771120" y="7711440"/>
            <a:ext cx="18592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>
            <a:extLst>
              <a:ext uri="{FF2B5EF4-FFF2-40B4-BE49-F238E27FC236}">
                <a16:creationId xmlns:a16="http://schemas.microsoft.com/office/drawing/2014/main" id="{D8DDCE08-1C7B-A8D1-739E-881769B27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0" y="0"/>
            <a:ext cx="1219200" cy="147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793790" y="795099"/>
            <a:ext cx="2694742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29878" y="863084"/>
            <a:ext cx="242256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ESTRATEGIAS DE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12069"/>
            <a:ext cx="102946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Técnicas de Control Implementadas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361009"/>
            <a:ext cx="1767840" cy="1767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412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Control PID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902756"/>
            <a:ext cx="304800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Regulación precisa de velocidad de banda mediante sintonización de parámetros proporcional, integral y derivativo para respuesta óptima.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278" y="2361009"/>
            <a:ext cx="1767840" cy="1767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25278" y="441233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Realimentación de Estados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125278" y="5257086"/>
            <a:ext cx="304811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 avanzado mediante retroalimentación de variables de estado del sistema para estabilización y seguimiento de referencia.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2361009"/>
            <a:ext cx="1767840" cy="1767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56884" y="441233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Observador de estados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456884" y="5257086"/>
            <a:ext cx="304811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Estimación de estados no medibles del sistema dinámico para implementación completa del control por realimentación.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8491" y="2361009"/>
            <a:ext cx="1767840" cy="17678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8491" y="441233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Programación en TIA Portal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0788491" y="5257086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Implementación directa de algoritmos de control en el entorno de desarrollo integrado Siemens TIA Portal V18.</a:t>
            </a:r>
            <a:endParaRPr lang="en-US" sz="175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AC3267F-5F84-23CE-AB33-6543E026EBC8}"/>
              </a:ext>
            </a:extLst>
          </p:cNvPr>
          <p:cNvSpPr/>
          <p:nvPr/>
        </p:nvSpPr>
        <p:spPr>
          <a:xfrm>
            <a:off x="12771120" y="7711440"/>
            <a:ext cx="18592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1991" y="730806"/>
            <a:ext cx="1303139" cy="355402"/>
          </a:xfrm>
          <a:prstGeom prst="roundRect">
            <a:avLst>
              <a:gd name="adj" fmla="val 40055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810577" y="790099"/>
            <a:ext cx="1065967" cy="23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ACTUADORES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1991" y="1155144"/>
            <a:ext cx="8970288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Elementos de Actuación del Sistema</a:t>
            </a:r>
            <a:endParaRPr lang="en-US" sz="3850" dirty="0"/>
          </a:p>
        </p:txBody>
      </p:sp>
      <p:sp>
        <p:nvSpPr>
          <p:cNvPr id="5" name="Shape 3"/>
          <p:cNvSpPr/>
          <p:nvPr/>
        </p:nvSpPr>
        <p:spPr>
          <a:xfrm>
            <a:off x="691991" y="2031563"/>
            <a:ext cx="13246418" cy="1445538"/>
          </a:xfrm>
          <a:prstGeom prst="roundRect">
            <a:avLst>
              <a:gd name="adj" fmla="val 1231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4851" y="2054423"/>
            <a:ext cx="790813" cy="1399818"/>
          </a:xfrm>
          <a:prstGeom prst="roundRect">
            <a:avLst>
              <a:gd name="adj" fmla="val 1903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62025" y="2569012"/>
            <a:ext cx="296466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77948" y="2252067"/>
            <a:ext cx="3691652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Variador de Frecuencia (VFD)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77948" y="2664381"/>
            <a:ext cx="12039957" cy="592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 analógico continuo del motor de la banda transportadora mediante señal 0–10 V. Permite ajuste preciso de velocidad y cumple requisito de operación ≥ 20 segundos en modo continuo.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91991" y="3649385"/>
            <a:ext cx="13246418" cy="1445538"/>
          </a:xfrm>
          <a:prstGeom prst="roundRect">
            <a:avLst>
              <a:gd name="adj" fmla="val 1231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1" name="Shape 9"/>
          <p:cNvSpPr/>
          <p:nvPr/>
        </p:nvSpPr>
        <p:spPr>
          <a:xfrm>
            <a:off x="714851" y="3672245"/>
            <a:ext cx="790813" cy="1399818"/>
          </a:xfrm>
          <a:prstGeom prst="roundRect">
            <a:avLst>
              <a:gd name="adj" fmla="val 1903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62025" y="4186833"/>
            <a:ext cx="296466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677948" y="3869888"/>
            <a:ext cx="3099911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Servomotor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77948" y="4282202"/>
            <a:ext cx="12039957" cy="592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Acciona el sistema de compuerta o desviador mecánico con posicionamiento angular exacto. Opera con ciclos de trabajo ≥ 15 segundos y precisión de ±0.1° en posicionamiento.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1991" y="5267206"/>
            <a:ext cx="13246418" cy="1445538"/>
          </a:xfrm>
          <a:prstGeom prst="roundRect">
            <a:avLst>
              <a:gd name="adj" fmla="val 12310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714851" y="5290066"/>
            <a:ext cx="790813" cy="1399818"/>
          </a:xfrm>
          <a:prstGeom prst="roundRect">
            <a:avLst>
              <a:gd name="adj" fmla="val 1903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62025" y="5804654"/>
            <a:ext cx="296466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677948" y="5487710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Sistema Neumático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77948" y="5900023"/>
            <a:ext cx="12039957" cy="592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Cilindros neumáticos de doble efecto para clasificación rápida mediante empuje lateral de envases. Tiempo de respuesta &lt; 0.3 s, integrado al bus de campo del PLC.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91991" y="6906578"/>
            <a:ext cx="13246418" cy="592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Todos los actuadores están completamente integrados al proceso automatizado y cumplen con las especificaciones técnicas de tiempo de operación requeridas.</a:t>
            </a:r>
            <a:endParaRPr lang="en-US" sz="1550" dirty="0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40EEF2F0-EF56-6550-B76B-C021A2AAD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0" y="-12602"/>
            <a:ext cx="1219200" cy="147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AA06B873-7B01-1D97-9CC5-E0097A2FBCA8}"/>
              </a:ext>
            </a:extLst>
          </p:cNvPr>
          <p:cNvSpPr/>
          <p:nvPr/>
        </p:nvSpPr>
        <p:spPr>
          <a:xfrm>
            <a:off x="12771120" y="7711440"/>
            <a:ext cx="18592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17665"/>
            <a:ext cx="2605921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29878" y="1385649"/>
            <a:ext cx="233374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INTERFAZ Y SUPERVISIÓN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34634"/>
            <a:ext cx="98801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Sistema HMI y Gestión de Alarmas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110389"/>
            <a:ext cx="31826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Pantalla HMI / WinCC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91533"/>
            <a:ext cx="6244709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Controles operativos: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Start, Stop y Paro de Emergencia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Ajuste de setpoint: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Configuración de velocidad deseada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Visualización: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Variables medidas y estados estimados en 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tiempo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real</a:t>
            </a:r>
          </a:p>
        </p:txBody>
      </p:sp>
      <p:sp>
        <p:nvSpPr>
          <p:cNvPr id="7" name="Text 5"/>
          <p:cNvSpPr/>
          <p:nvPr/>
        </p:nvSpPr>
        <p:spPr>
          <a:xfrm>
            <a:off x="7599521" y="31103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Sistema de Alarmas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691533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Falla de sensor fotoeléctrico</a:t>
            </a:r>
            <a:endParaRPr lang="en-US" sz="1750" dirty="0"/>
          </a:p>
          <a:p>
            <a:pPr marL="342900" indent="-342900" algn="just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Velocidad fuera de rango operativo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Activación de paro de emergencia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Falla de comunicación con actuador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274421" y="5842514"/>
            <a:ext cx="30744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Registro automático de eventos con time-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stemp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para trazabilidad y diagnóstico.</a:t>
            </a:r>
            <a:endParaRPr lang="en-US" sz="175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1262A9B-D65D-7AC3-817D-8EF365D50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0" y="-12602"/>
            <a:ext cx="1219200" cy="147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ECC80A4-BC28-BD4B-C6D4-5E9ED9B1A15E}"/>
              </a:ext>
            </a:extLst>
          </p:cNvPr>
          <p:cNvSpPr/>
          <p:nvPr/>
        </p:nvSpPr>
        <p:spPr>
          <a:xfrm>
            <a:off x="12771120" y="7711440"/>
            <a:ext cx="18592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CD220193-A7F6-A6F5-4CAF-3E248F533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910" y="4902959"/>
            <a:ext cx="3109971" cy="310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Picture 1">
            <a:extLst>
              <a:ext uri="{FF2B5EF4-FFF2-40B4-BE49-F238E27FC236}">
                <a16:creationId xmlns:a16="http://schemas.microsoft.com/office/drawing/2014/main" id="{590D9ACC-B61E-AF89-0582-A22EFE046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1875" y="5143231"/>
            <a:ext cx="2747844" cy="2747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5E908704-5371-6A44-48E3-4D13650BD6B2}"/>
              </a:ext>
            </a:extLst>
          </p:cNvPr>
          <p:cNvSpPr/>
          <p:nvPr/>
        </p:nvSpPr>
        <p:spPr>
          <a:xfrm>
            <a:off x="841712" y="5306258"/>
            <a:ext cx="30744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1750" b="1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Recetas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Perfiles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 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operación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precargados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para 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diferentes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tipos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 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materiales</a:t>
            </a:r>
            <a:endParaRPr lang="en-US" sz="1750" dirty="0"/>
          </a:p>
          <a:p>
            <a:pPr marL="0" indent="0" algn="just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54737"/>
            <a:ext cx="1889284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87713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822722"/>
            <a:ext cx="13449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INDUSTRIA 4.0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271707"/>
            <a:ext cx="86435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Simulación y Gestión de Datos</a:t>
            </a:r>
            <a:endParaRPr lang="en-US" sz="4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2320647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3454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Simulación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3945136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Modelado matemático y simulación del sistema en Python/</a:t>
            </a:r>
            <a:r>
              <a:rPr lang="en-US" sz="1750" dirty="0" err="1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Matlab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para validación de controladores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320647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42014" y="3454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Base de Datos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42014" y="3945136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Registro histórico en base de datos local para análisis de tendencias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4897755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0604" y="603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Nube IoT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20604" y="6522244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Transmisión de datos operativos a plataforma en la nube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4897755"/>
            <a:ext cx="6521410" cy="9072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542014" y="60318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Visualización Web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7542014" y="6522244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Dashboard accesible para monitoreo remoto en tiempo real</a:t>
            </a:r>
            <a:endParaRPr lang="en-US" sz="1750" dirty="0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BC297650-2F83-6016-29AF-8869427B3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0" y="-12602"/>
            <a:ext cx="1219200" cy="147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F77DA971-90A8-3FBA-7FA0-9137CC1867EB}"/>
              </a:ext>
            </a:extLst>
          </p:cNvPr>
          <p:cNvSpPr/>
          <p:nvPr/>
        </p:nvSpPr>
        <p:spPr>
          <a:xfrm>
            <a:off x="12771120" y="7711440"/>
            <a:ext cx="18592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14199"/>
            <a:ext cx="1470184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29878" y="1282184"/>
            <a:ext cx="119800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31169"/>
            <a:ext cx="113772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Viabilidad y Cumplimiento del Proyecto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006923"/>
            <a:ext cx="44201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Referentes Industriales Reales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88068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Colombia: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Ecometálicos, Reciclamos Colombia, Servicios Ambientales S.A.S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55043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Internacional: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TOMRA (Noruega), Machinex (Canadá), BHS (Estados Unidos)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107662"/>
            <a:ext cx="33503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Marco Legal de Soporte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5688806"/>
            <a:ext cx="8284131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Política Nacional de Gestión de Residuos Sólidos (PNGIRS)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Decreto 1076 de 2015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Resolución 1407 de 2018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475589" y="2780109"/>
            <a:ext cx="4531876" cy="4235291"/>
          </a:xfrm>
          <a:prstGeom prst="roundRect">
            <a:avLst>
              <a:gd name="adj" fmla="val 771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702403" y="30069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Conclusión Final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702403" y="3588068"/>
            <a:ext cx="407824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 proyecto es técnica, legal y académicamente viable. Cumple la totalidad de los requerimientos establecidos en la guía de proyecto y representa una planta de reciclaje automatizada realista y escalable a nivel industrial.</a:t>
            </a:r>
            <a:endParaRPr lang="en-US" sz="1750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43F798AE-BD30-8639-7BBD-203F8895F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0" y="-12602"/>
            <a:ext cx="1219200" cy="147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DEDD6D1E-A76E-4937-6760-388F14A30F9E}"/>
              </a:ext>
            </a:extLst>
          </p:cNvPr>
          <p:cNvSpPr/>
          <p:nvPr/>
        </p:nvSpPr>
        <p:spPr>
          <a:xfrm>
            <a:off x="12771120" y="7711440"/>
            <a:ext cx="1859280" cy="51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942</Words>
  <Application>Microsoft Office PowerPoint</Application>
  <PresentationFormat>Personalizado</PresentationFormat>
  <Paragraphs>123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Calibri</vt:lpstr>
      <vt:lpstr>Nobile</vt:lpstr>
      <vt:lpstr>Aptos</vt:lpstr>
      <vt:lpstr>Arial</vt:lpstr>
      <vt:lpstr>Fraunces Extra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ManUNkind</dc:creator>
  <cp:lastModifiedBy>Andres Felipe Bernal Urrea</cp:lastModifiedBy>
  <cp:revision>2</cp:revision>
  <dcterms:created xsi:type="dcterms:W3CDTF">2026-02-05T18:58:32Z</dcterms:created>
  <dcterms:modified xsi:type="dcterms:W3CDTF">2026-02-05T19:31:35Z</dcterms:modified>
</cp:coreProperties>
</file>